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6" r:id="rId22"/>
    <p:sldId id="280" r:id="rId23"/>
    <p:sldId id="281" r:id="rId24"/>
    <p:sldId id="282" r:id="rId25"/>
    <p:sldId id="274" r:id="rId26"/>
    <p:sldId id="275" r:id="rId27"/>
  </p:sldIdLst>
  <p:sldSz cx="12192000" cy="6858000"/>
  <p:notesSz cx="6858000" cy="1857375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EC790C-9DF1-45AC-B9FD-7288E761B4F1}" v="774" dt="2026-01-14T19:35:11.093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1480" autoAdjust="0"/>
  </p:normalViewPr>
  <p:slideViewPr>
    <p:cSldViewPr snapToGrid="0">
      <p:cViewPr varScale="1">
        <p:scale>
          <a:sx n="70" d="100"/>
          <a:sy n="70" d="100"/>
        </p:scale>
        <p:origin x="38" y="101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ythiliskiran/in-demand-developer-skills-analysis/blob/b8bbecda9ac9856b8fbe468095664da2bd9723f5/building_a_dashboard/Stack%20Overflow%20Survey%20dashboard.pdf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2" y="1168401"/>
            <a:ext cx="7183562" cy="2387600"/>
          </a:xfrm>
          <a:noFill/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TECHNOLOGY TRENDS &amp; DEVELOPER DEMOGRAPHICS ANALYSIS</a:t>
            </a:r>
            <a:endParaRPr lang="en-US">
              <a:latin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0027" y="3731247"/>
            <a:ext cx="9135454" cy="165576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IBM Plex Sans"/>
              </a:rPr>
              <a:t>By: Mythili Kiran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19" y="387350"/>
            <a:ext cx="4794861" cy="4351338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825624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IBM Plex Sans"/>
                <a:ea typeface="Calibri"/>
                <a:cs typeface="Calibri"/>
              </a:rPr>
              <a:t>This analysis examines developer technology trends using Stack Overflow survey data. Results show continued dominance of Python, SQL, and JavaScript, rising cloud and open-source database adoption, and a positive relationship between experience, compensation, and job satisfaction.</a:t>
            </a:r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Purpose: Analyze current and future technology trends.</a:t>
            </a:r>
            <a:endParaRPr lang="en-US" dirty="0"/>
          </a:p>
          <a:p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Audience: Data professionals and technology leaders.</a:t>
            </a:r>
            <a:endParaRPr lang="en-US" dirty="0"/>
          </a:p>
          <a:p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Value: Supports skill and hiring decisions.</a:t>
            </a:r>
            <a:endParaRPr lang="en-US" dirty="0"/>
          </a:p>
          <a:p>
            <a:endParaRPr lang="en-US" sz="22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425087"/>
            <a:ext cx="7430186" cy="5152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000000"/>
                </a:solidFill>
                <a:latin typeface="IBM Plex Sans"/>
                <a:ea typeface="Calibri"/>
                <a:cs typeface="Calibri"/>
              </a:rPr>
              <a:t>Data Sources:</a:t>
            </a:r>
            <a:endParaRPr lang="en-US" b="1" dirty="0">
              <a:latin typeface="IBM Plex Sans"/>
              <a:ea typeface="Calibri"/>
              <a:cs typeface="Calibri"/>
            </a:endParaRPr>
          </a:p>
          <a:p>
            <a:pPr lvl="1"/>
            <a:r>
              <a:rPr lang="en-US" sz="2800" dirty="0">
                <a:solidFill>
                  <a:srgbClr val="000000"/>
                </a:solidFill>
                <a:latin typeface="IBM Plex Sans"/>
                <a:ea typeface="Calibri"/>
                <a:cs typeface="Calibri"/>
              </a:rPr>
              <a:t>Stack Overflow Developer Survey </a:t>
            </a:r>
            <a:endParaRPr lang="en-US" sz="2800" dirty="0"/>
          </a:p>
          <a:p>
            <a:pPr lvl="1"/>
            <a:r>
              <a:rPr lang="en-US" sz="2800" dirty="0">
                <a:solidFill>
                  <a:srgbClr val="000000"/>
                </a:solidFill>
                <a:latin typeface="IBM Plex Sans"/>
                <a:ea typeface="Calibri"/>
                <a:cs typeface="Calibri"/>
              </a:rPr>
              <a:t>Web-scraped HTML dataset</a:t>
            </a:r>
            <a:endParaRPr lang="en-US" sz="2800" dirty="0"/>
          </a:p>
          <a:p>
            <a:pPr lvl="1"/>
            <a:r>
              <a:rPr lang="en-US" sz="2800" dirty="0">
                <a:solidFill>
                  <a:srgbClr val="000000"/>
                </a:solidFill>
                <a:latin typeface="IBM Plex Sans"/>
                <a:ea typeface="Calibri"/>
                <a:cs typeface="Calibri"/>
              </a:rPr>
              <a:t>Public REST API </a:t>
            </a:r>
            <a:endParaRPr lang="en-US" dirty="0">
              <a:ea typeface="Calibri"/>
              <a:cs typeface="Calibri"/>
            </a:endParaRPr>
          </a:p>
          <a:p>
            <a:r>
              <a:rPr lang="en-US" sz="3600" b="1" dirty="0">
                <a:solidFill>
                  <a:srgbClr val="000000"/>
                </a:solidFill>
                <a:latin typeface="IBM Plex Sans"/>
                <a:ea typeface="Calibri"/>
                <a:cs typeface="Calibri"/>
              </a:rPr>
              <a:t>Tools:</a:t>
            </a:r>
            <a:endParaRPr lang="en-US" sz="3600" dirty="0"/>
          </a:p>
          <a:p>
            <a:pPr lvl="1"/>
            <a:r>
              <a:rPr lang="en-US" sz="2800" dirty="0">
                <a:solidFill>
                  <a:srgbClr val="000000"/>
                </a:solidFill>
                <a:latin typeface="IBM Plex Sans"/>
              </a:rPr>
              <a:t>SQL, Python, IBM Cognos Analytics</a:t>
            </a:r>
            <a:endParaRPr lang="en-US" sz="2800" dirty="0"/>
          </a:p>
          <a:p>
            <a:r>
              <a:rPr lang="en-US" sz="3200" b="1" dirty="0">
                <a:solidFill>
                  <a:srgbClr val="000000"/>
                </a:solidFill>
                <a:latin typeface="IBM Plex Sans"/>
              </a:rPr>
              <a:t>Steps:</a:t>
            </a:r>
            <a:endParaRPr lang="en-US" dirty="0"/>
          </a:p>
          <a:p>
            <a:pPr lvl="1"/>
            <a:r>
              <a:rPr lang="en-US" sz="2800" dirty="0">
                <a:solidFill>
                  <a:srgbClr val="000000"/>
                </a:solidFill>
                <a:latin typeface="IBM Plex Sans"/>
              </a:rPr>
              <a:t>Cleaning and preprocessing</a:t>
            </a:r>
            <a:endParaRPr lang="en-US" sz="2800" dirty="0"/>
          </a:p>
          <a:p>
            <a:pPr lvl="1"/>
            <a:r>
              <a:rPr lang="en-US" sz="2800" dirty="0">
                <a:solidFill>
                  <a:srgbClr val="000000"/>
                </a:solidFill>
                <a:latin typeface="IBM Plex Sans"/>
              </a:rPr>
              <a:t>Normalization and transformation</a:t>
            </a:r>
            <a:endParaRPr lang="en-US" sz="2800" dirty="0"/>
          </a:p>
          <a:p>
            <a:pPr lvl="1"/>
            <a:r>
              <a:rPr lang="en-US" sz="2800" dirty="0">
                <a:solidFill>
                  <a:srgbClr val="000000"/>
                </a:solidFill>
                <a:latin typeface="IBM Plex Sans"/>
              </a:rPr>
              <a:t>Analysis and visualization</a:t>
            </a:r>
            <a:endParaRPr lang="en-US" sz="2800" dirty="0"/>
          </a:p>
          <a:p>
            <a:pPr lvl="1"/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995CA-EB1E-59C5-1882-1029BBCE16F5}"/>
              </a:ext>
            </a:extLst>
          </p:cNvPr>
          <p:cNvSpPr txBox="1"/>
          <p:nvPr/>
        </p:nvSpPr>
        <p:spPr>
          <a:xfrm>
            <a:off x="840154" y="1397000"/>
            <a:ext cx="10306538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endParaRPr lang="en-US" sz="2000" b="1" dirty="0">
              <a:solidFill>
                <a:srgbClr val="262626"/>
              </a:solidFill>
              <a:ea typeface="+mn-lt"/>
              <a:cs typeface="+mn-lt"/>
            </a:endParaRPr>
          </a:p>
          <a:p>
            <a:r>
              <a:rPr lang="en-US" sz="2800" b="1" dirty="0">
                <a:ea typeface="+mn-lt"/>
                <a:cs typeface="+mn-lt"/>
              </a:rPr>
              <a:t>Languages: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JavaScript, SQL, and Python lead adoption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endParaRPr lang="en-US"/>
          </a:p>
          <a:p>
            <a:r>
              <a:rPr lang="en-US" sz="2800" b="1" dirty="0">
                <a:ea typeface="+mn-lt"/>
                <a:cs typeface="+mn-lt"/>
              </a:rPr>
              <a:t>Databases: </a:t>
            </a:r>
            <a:r>
              <a:rPr lang="en-US" sz="2400" dirty="0">
                <a:ea typeface="+mn-lt"/>
                <a:cs typeface="+mn-lt"/>
              </a:rPr>
              <a:t>PostgreSQL and MySQL dominate usage </a:t>
            </a:r>
            <a:endParaRPr lang="en-US" sz="2400" dirty="0"/>
          </a:p>
          <a:p>
            <a:endParaRPr lang="en-US"/>
          </a:p>
          <a:p>
            <a:r>
              <a:rPr lang="en-US" sz="2800" b="1" dirty="0">
                <a:ea typeface="+mn-lt"/>
                <a:cs typeface="+mn-lt"/>
              </a:rPr>
              <a:t>Platforms: </a:t>
            </a:r>
            <a:r>
              <a:rPr lang="en-US" sz="2400" dirty="0">
                <a:ea typeface="+mn-lt"/>
                <a:cs typeface="+mn-lt"/>
              </a:rPr>
              <a:t>AWS, Azure, and Google Cloud are most used </a:t>
            </a:r>
            <a:endParaRPr lang="en-US" sz="2400" dirty="0"/>
          </a:p>
          <a:p>
            <a:endParaRPr lang="en-US" sz="2400" dirty="0"/>
          </a:p>
          <a:p>
            <a:r>
              <a:rPr lang="en-US" sz="2800" b="1" dirty="0">
                <a:ea typeface="+mn-lt"/>
                <a:cs typeface="+mn-lt"/>
              </a:rPr>
              <a:t>Demographics: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Majority of developers are primarily aged 25–44</a:t>
            </a:r>
            <a:endParaRPr lang="en-US" sz="2400" dirty="0"/>
          </a:p>
          <a:p>
            <a:pPr algn="ctr"/>
            <a:endParaRPr lang="en-US" dirty="0">
              <a:solidFill>
                <a:srgbClr val="262626"/>
              </a:solidFill>
              <a:ea typeface="+mn-lt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IBM Plex Mono Text"/>
              </a:rPr>
              <a:t> </a:t>
            </a: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CBCDECD-CDBE-B469-7B87-CF4E42FB3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73" y="2326909"/>
            <a:ext cx="5290039" cy="3523029"/>
          </a:xfrm>
          <a:prstGeom prst="rect">
            <a:avLst/>
          </a:prstGeom>
        </p:spPr>
      </p:pic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D7C9D8F-1AF7-30D5-4D2C-D22BB0D4D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8175" y="2320925"/>
            <a:ext cx="5835650" cy="35349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IBM Plex Sans"/>
              </a:rPr>
              <a:t>Findings</a:t>
            </a:r>
            <a:endParaRPr lang="en-US"/>
          </a:p>
          <a:p>
            <a:pPr marL="0" indent="0">
              <a:buNone/>
            </a:pPr>
            <a:endParaRPr lang="en-US" b="1" dirty="0">
              <a:latin typeface="IBM Plex Sans"/>
            </a:endParaRPr>
          </a:p>
          <a:p>
            <a:pPr lvl="1"/>
            <a:r>
              <a:rPr lang="en-US" dirty="0">
                <a:latin typeface="IBM Plex Sans"/>
              </a:rPr>
              <a:t>JS, SQL, Python lead</a:t>
            </a:r>
            <a:endParaRPr lang="en-US"/>
          </a:p>
          <a:p>
            <a:pPr lvl="1"/>
            <a:r>
              <a:rPr lang="en-US" dirty="0">
                <a:latin typeface="IBM Plex Sans"/>
              </a:rPr>
              <a:t>TypeScript rising</a:t>
            </a:r>
            <a:endParaRPr lang="en-US"/>
          </a:p>
          <a:p>
            <a:pPr lvl="1"/>
            <a:r>
              <a:rPr lang="en-US" dirty="0">
                <a:latin typeface="IBM Plex Sans"/>
              </a:rPr>
              <a:t>Go, Rust emerging</a:t>
            </a:r>
            <a:endParaRPr lang="en-US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IBM Plex Sans"/>
              </a:rPr>
              <a:t>Implications</a:t>
            </a:r>
            <a:endParaRPr lang="en-US" dirty="0"/>
          </a:p>
          <a:p>
            <a:pPr marL="0" indent="0">
              <a:buNone/>
            </a:pPr>
            <a:endParaRPr lang="en-US" b="1" dirty="0">
              <a:latin typeface="IBM Plex Sans"/>
            </a:endParaRPr>
          </a:p>
          <a:p>
            <a:pPr lvl="1"/>
            <a:r>
              <a:rPr lang="en-US" dirty="0">
                <a:latin typeface="IBM Plex Sans"/>
              </a:rPr>
              <a:t>Strong demand for core skills</a:t>
            </a:r>
          </a:p>
          <a:p>
            <a:pPr lvl="1"/>
            <a:r>
              <a:rPr lang="en-US" dirty="0">
                <a:latin typeface="IBM Plex Sans"/>
              </a:rPr>
              <a:t>Shift toward modern stacks</a:t>
            </a:r>
            <a:endParaRPr lang="en-US" dirty="0"/>
          </a:p>
          <a:p>
            <a:pPr lvl="1"/>
            <a:r>
              <a:rPr lang="en-US" dirty="0">
                <a:latin typeface="IBM Plex Sans"/>
              </a:rPr>
              <a:t>Need for ongoing learning</a:t>
            </a:r>
            <a:endParaRPr lang="en-US" dirty="0"/>
          </a:p>
          <a:p>
            <a:pPr marL="457200" indent="-457200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A22F3-E9FA-18AD-850E-D7D4EE237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75" y="2319460"/>
            <a:ext cx="5829545" cy="3577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0C6968-728E-9ACD-33B5-1DCBE6E35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559" y="2510082"/>
            <a:ext cx="5532804" cy="33911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" y="365125"/>
            <a:ext cx="12094029" cy="1325563"/>
          </a:xfrm>
        </p:spPr>
        <p:txBody>
          <a:bodyPr/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latin typeface="IBM Plex Sans"/>
              </a:rPr>
              <a:t>Findings</a:t>
            </a:r>
          </a:p>
          <a:p>
            <a:pPr>
              <a:buNone/>
            </a:pPr>
            <a:endParaRPr lang="en-US" b="1" dirty="0">
              <a:latin typeface="IBM Plex Sans"/>
            </a:endParaRPr>
          </a:p>
          <a:p>
            <a:pPr lvl="1"/>
            <a:r>
              <a:rPr lang="en-US" dirty="0">
                <a:latin typeface="IBM Plex Sans"/>
              </a:rPr>
              <a:t>PostgreSQL, MySQL lead</a:t>
            </a:r>
          </a:p>
          <a:p>
            <a:pPr lvl="1"/>
            <a:r>
              <a:rPr lang="en-US" dirty="0">
                <a:latin typeface="IBM Plex Sans"/>
              </a:rPr>
              <a:t>MongoDB popular</a:t>
            </a:r>
          </a:p>
          <a:p>
            <a:pPr lvl="1"/>
            <a:r>
              <a:rPr lang="en-US" dirty="0">
                <a:latin typeface="IBM Plex Sans"/>
              </a:rPr>
              <a:t>Redis growing</a:t>
            </a:r>
          </a:p>
          <a:p>
            <a:pPr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0">
              <a:buNone/>
            </a:pPr>
            <a:r>
              <a:rPr lang="en-US" b="1" dirty="0">
                <a:latin typeface="IBM Plex Sans"/>
              </a:rPr>
              <a:t>Implications</a:t>
            </a:r>
          </a:p>
          <a:p>
            <a:pPr indent="0">
              <a:buNone/>
            </a:pPr>
            <a:endParaRPr lang="en-US" b="1" dirty="0">
              <a:latin typeface="IBM Plex Sans"/>
            </a:endParaRPr>
          </a:p>
          <a:p>
            <a:pPr lvl="1"/>
            <a:r>
              <a:rPr lang="en-US" dirty="0">
                <a:latin typeface="IBM Plex Sans"/>
              </a:rPr>
              <a:t>SQL skills remain essential</a:t>
            </a:r>
          </a:p>
          <a:p>
            <a:pPr lvl="1"/>
            <a:r>
              <a:rPr lang="en-US" dirty="0">
                <a:latin typeface="IBM Plex Sans"/>
              </a:rPr>
              <a:t>NoSQL adoption increasing</a:t>
            </a:r>
            <a:endParaRPr lang="en-US" dirty="0"/>
          </a:p>
          <a:p>
            <a:pPr lvl="1"/>
            <a:r>
              <a:rPr lang="en-US" dirty="0">
                <a:latin typeface="IBM Plex Sans"/>
              </a:rPr>
              <a:t>Focus on scalability &amp; speed</a:t>
            </a:r>
            <a:endParaRPr lang="en-US" dirty="0"/>
          </a:p>
          <a:p>
            <a:pPr marL="571500" lvl="1" indent="-342900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137962" y="3422644"/>
            <a:ext cx="7068725" cy="1738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accent2">
                    <a:lumMod val="76000"/>
                  </a:schemeClr>
                </a:solidFill>
                <a:latin typeface="IBM Plex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https://github.com/mythiliskiran/in-demand-developer-skills-analysis/blob/b8bbecda9ac9856b8fbe468095664da2bd9723f5/building_a_dashboard/Stack%20Overflow%20Survey%20dashboard.pdf</a:t>
            </a:r>
            <a:endParaRPr lang="en-US">
              <a:solidFill>
                <a:schemeClr val="accent2">
                  <a:lumMod val="76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sz="2200" dirty="0">
              <a:solidFill>
                <a:schemeClr val="accent2">
                  <a:lumMod val="76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3507A3-8C05-C915-A978-8E50C0BFD038}"/>
              </a:ext>
            </a:extLst>
          </p:cNvPr>
          <p:cNvSpPr txBox="1"/>
          <p:nvPr/>
        </p:nvSpPr>
        <p:spPr>
          <a:xfrm>
            <a:off x="4281221" y="1567962"/>
            <a:ext cx="6096000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lnSpc>
                <a:spcPts val="2400"/>
              </a:lnSpc>
              <a:buFont typeface=""/>
              <a:buChar char="•"/>
            </a:pPr>
            <a:r>
              <a:rPr lang="en-US" sz="3000" baseline="0" dirty="0">
                <a:solidFill>
                  <a:srgbClr val="262626"/>
                </a:solidFill>
                <a:latin typeface="Calibri"/>
                <a:ea typeface="Arial"/>
                <a:cs typeface="Arial"/>
              </a:rPr>
              <a:t>Current Technology Usage</a:t>
            </a:r>
            <a:r>
              <a:rPr lang="en-US" sz="3000" dirty="0">
                <a:solidFill>
                  <a:srgbClr val="262626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>
              <a:lnSpc>
                <a:spcPts val="2400"/>
              </a:lnSpc>
            </a:pPr>
            <a:endParaRPr lang="en-US" sz="3000" dirty="0">
              <a:solidFill>
                <a:srgbClr val="262626"/>
              </a:solidFill>
              <a:latin typeface="Calibri"/>
              <a:ea typeface="Arial"/>
              <a:cs typeface="Arial"/>
            </a:endParaRPr>
          </a:p>
          <a:p>
            <a:pPr marL="228600" lvl="0" indent="-228600" rtl="0">
              <a:lnSpc>
                <a:spcPts val="2400"/>
              </a:lnSpc>
              <a:buFont typeface=""/>
              <a:buChar char="•"/>
            </a:pPr>
            <a:r>
              <a:rPr lang="en-US" sz="3000" baseline="0" dirty="0">
                <a:solidFill>
                  <a:srgbClr val="262626"/>
                </a:solidFill>
                <a:latin typeface="Calibri"/>
                <a:ea typeface="Arial"/>
                <a:cs typeface="Arial"/>
              </a:rPr>
              <a:t>Future Technology Trends</a:t>
            </a:r>
            <a:r>
              <a:rPr lang="en-US" sz="3000" dirty="0">
                <a:solidFill>
                  <a:srgbClr val="262626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>
              <a:lnSpc>
                <a:spcPts val="2400"/>
              </a:lnSpc>
            </a:pPr>
            <a:endParaRPr lang="en-US" sz="3000" dirty="0">
              <a:solidFill>
                <a:srgbClr val="262626"/>
              </a:solidFill>
              <a:latin typeface="Calibri"/>
              <a:ea typeface="Arial"/>
              <a:cs typeface="Arial"/>
            </a:endParaRPr>
          </a:p>
          <a:p>
            <a:pPr marL="228600" lvl="0" indent="-228600" rtl="0">
              <a:lnSpc>
                <a:spcPts val="2400"/>
              </a:lnSpc>
              <a:buFont typeface=""/>
              <a:buChar char="•"/>
            </a:pPr>
            <a:r>
              <a:rPr lang="en-US" sz="3000" baseline="0" dirty="0">
                <a:solidFill>
                  <a:srgbClr val="262626"/>
                </a:solidFill>
                <a:latin typeface="Calibri"/>
                <a:ea typeface="Arial"/>
                <a:cs typeface="Arial"/>
              </a:rPr>
              <a:t>Demographics</a:t>
            </a:r>
          </a:p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587"/>
            <a:ext cx="10515600" cy="700333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IBM Plex Sans SemiBold"/>
              </a:rPr>
              <a:t>CURRENT TECHNOLOGY USAGE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67DF9C-CF1C-73A5-6FCA-FA8A6E3DD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17" y="791293"/>
            <a:ext cx="11371383" cy="55196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202"/>
            <a:ext cx="10515600" cy="602641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IBM Plex Sans SemiBold"/>
              </a:rPr>
              <a:t>FUTURE TECHNOLOGY TRENDS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3630DAB-3D02-B5EE-791D-C4A646BD8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71" y="752231"/>
            <a:ext cx="11227260" cy="54512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4"/>
            <a:ext cx="10515600" cy="758948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IBM Plex Sans SemiBold"/>
              </a:rPr>
              <a:t>DEMOGRAPHICS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graph and chart&#10;&#10;AI-generated content may be incorrect.">
            <a:extLst>
              <a:ext uri="{FF2B5EF4-FFF2-40B4-BE49-F238E27FC236}">
                <a16:creationId xmlns:a16="http://schemas.microsoft.com/office/drawing/2014/main" id="{EAE10C47-99DB-4F67-DEEA-B655CAF6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38" y="814901"/>
            <a:ext cx="10697307" cy="54919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IBM Plex Sans"/>
              </a:rPr>
              <a:t>Core technologies remain dominant across roles</a:t>
            </a:r>
          </a:p>
          <a:p>
            <a:r>
              <a:rPr lang="en-US" dirty="0">
                <a:latin typeface="IBM Plex Sans"/>
              </a:rPr>
              <a:t>Cloud adoption reflects industry scalability needs</a:t>
            </a:r>
          </a:p>
          <a:p>
            <a:r>
              <a:rPr lang="en-US" dirty="0">
                <a:latin typeface="IBM Plex Sans"/>
              </a:rPr>
              <a:t>Emerging tools show gradual, not disruptive, growth</a:t>
            </a:r>
          </a:p>
          <a:p>
            <a:r>
              <a:rPr lang="en-US" dirty="0">
                <a:latin typeface="IBM Plex Sans"/>
              </a:rPr>
              <a:t>Skills demand driven by both stability and innovation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latin typeface="IBM Plex Sans"/>
              </a:rPr>
              <a:t>Findings</a:t>
            </a:r>
          </a:p>
          <a:p>
            <a:pPr>
              <a:buNone/>
            </a:pPr>
            <a:endParaRPr lang="en-US" b="1" dirty="0">
              <a:latin typeface="IBM Plex Sans"/>
            </a:endParaRPr>
          </a:p>
          <a:p>
            <a:pPr lvl="1"/>
            <a:r>
              <a:rPr lang="en-US" dirty="0">
                <a:latin typeface="IBM Plex Sans"/>
              </a:rPr>
              <a:t>JavaScript, SQL, Python dominate usage</a:t>
            </a:r>
          </a:p>
          <a:p>
            <a:pPr lvl="1"/>
            <a:r>
              <a:rPr lang="en-US" dirty="0">
                <a:latin typeface="IBM Plex Sans"/>
              </a:rPr>
              <a:t>Cloud platforms widely adopted</a:t>
            </a:r>
          </a:p>
          <a:p>
            <a:pPr lvl="1"/>
            <a:r>
              <a:rPr lang="en-US" dirty="0">
                <a:latin typeface="IBM Plex Sans"/>
              </a:rPr>
              <a:t>Relational + NoSQL databases both important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latin typeface="IBM Plex Sans"/>
              </a:rPr>
              <a:t>Implications</a:t>
            </a:r>
          </a:p>
          <a:p>
            <a:pPr>
              <a:buNone/>
            </a:pPr>
            <a:endParaRPr lang="en-US" b="1" dirty="0">
              <a:latin typeface="IBM Plex Sans"/>
            </a:endParaRPr>
          </a:p>
          <a:p>
            <a:pPr lvl="1"/>
            <a:r>
              <a:rPr lang="en-US" dirty="0">
                <a:latin typeface="IBM Plex Sans"/>
              </a:rPr>
              <a:t>Core technical skills remain essential</a:t>
            </a:r>
          </a:p>
          <a:p>
            <a:pPr lvl="1"/>
            <a:r>
              <a:rPr lang="en-US" dirty="0">
                <a:latin typeface="IBM Plex Sans"/>
              </a:rPr>
              <a:t>Cloud and data skills drive demand</a:t>
            </a:r>
          </a:p>
          <a:p>
            <a:pPr lvl="1"/>
            <a:r>
              <a:rPr lang="en-US" dirty="0">
                <a:latin typeface="IBM Plex Sans"/>
              </a:rPr>
              <a:t>Continuous upskilling is critical</a:t>
            </a:r>
          </a:p>
          <a:p>
            <a:pPr>
              <a:buNone/>
            </a:pP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latin typeface="IBM Plex Sans"/>
              </a:rPr>
              <a:t>Core programming and database technologies remain essential</a:t>
            </a:r>
            <a:endParaRPr lang="en-US" dirty="0"/>
          </a:p>
          <a:p>
            <a:pPr lvl="1"/>
            <a:r>
              <a:rPr lang="en-US" dirty="0">
                <a:latin typeface="IBM Plex Sans"/>
              </a:rPr>
              <a:t>Cloud platforms play a central role in modern development</a:t>
            </a:r>
            <a:endParaRPr lang="en-US"/>
          </a:p>
          <a:p>
            <a:pPr lvl="1"/>
            <a:r>
              <a:rPr lang="en-US" dirty="0">
                <a:latin typeface="IBM Plex Sans"/>
              </a:rPr>
              <a:t>Emerging tools signal evolving industry needs</a:t>
            </a:r>
            <a:endParaRPr lang="en-US"/>
          </a:p>
          <a:p>
            <a:pPr lvl="1"/>
            <a:r>
              <a:rPr lang="en-US" dirty="0">
                <a:latin typeface="IBM Plex Sans"/>
              </a:rPr>
              <a:t>Continuous learning is key to staying relevant</a:t>
            </a:r>
            <a:endParaRPr lang="en-US"/>
          </a:p>
          <a:p>
            <a:endParaRPr lang="en-US" dirty="0"/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0EC40-1E49-59D2-0298-12CD6CA9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2961922-A7E2-00A8-B3F2-A13DC450C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IBM Plex Sans SemiBold"/>
              </a:rPr>
              <a:t>APPENDIX A – COMPENSATION VS JOB SATISFACTION</a:t>
            </a:r>
            <a:endParaRPr lang="en-US" sz="2800" b="0" dirty="0">
              <a:solidFill>
                <a:srgbClr val="000000"/>
              </a:solidFill>
              <a:latin typeface="IBM Plex Sans SemiBold"/>
            </a:endParaRPr>
          </a:p>
          <a:p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EEC351F-3AE9-2444-F047-BA35C5A14E43}"/>
              </a:ext>
            </a:extLst>
          </p:cNvPr>
          <p:cNvSpPr txBox="1">
            <a:spLocks/>
          </p:cNvSpPr>
          <p:nvPr/>
        </p:nvSpPr>
        <p:spPr>
          <a:xfrm>
            <a:off x="7211290" y="1483701"/>
            <a:ext cx="4054587" cy="4077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IBM Plex Sans"/>
              </a:rPr>
              <a:t>Median compensation shows a slight upward trend with higher job satisfaction, while salary variability increases at higher satisfaction levels.</a:t>
            </a:r>
            <a:endParaRPr lang="en-US"/>
          </a:p>
        </p:txBody>
      </p:sp>
      <p:pic>
        <p:nvPicPr>
          <p:cNvPr id="3" name="Picture 2" descr="A graph of a number of blue and green squares&#10;&#10;AI-generated content may be incorrect.">
            <a:extLst>
              <a:ext uri="{FF2B5EF4-FFF2-40B4-BE49-F238E27FC236}">
                <a16:creationId xmlns:a16="http://schemas.microsoft.com/office/drawing/2014/main" id="{4AF33363-4027-2E81-94A3-280B99F05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81" y="1485291"/>
            <a:ext cx="6374423" cy="45126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9351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2C2F-459A-B252-FBD1-818FCFFB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F066649-D098-93C8-A909-5D59BECD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3871"/>
          </a:xfrm>
        </p:spPr>
        <p:txBody>
          <a:bodyPr anchor="ctr">
            <a:normAutofit/>
          </a:bodyPr>
          <a:lstStyle/>
          <a:p>
            <a:br>
              <a:rPr lang="en-US" sz="3200" dirty="0">
                <a:latin typeface="IBM Plex Sans SemiBold"/>
              </a:rPr>
            </a:br>
            <a:r>
              <a:rPr lang="en-US" sz="3200" dirty="0">
                <a:latin typeface="IBM Plex Sans SemiBold"/>
              </a:rPr>
              <a:t>APPENDIX B – EXPERIENCE VS JOB SATISFACTION</a:t>
            </a:r>
            <a:endParaRPr lang="en-US" dirty="0"/>
          </a:p>
          <a:p>
            <a:endParaRPr lang="en-US" sz="3200" dirty="0">
              <a:latin typeface="IBM Plex Sans SemiBold"/>
            </a:endParaRPr>
          </a:p>
          <a:p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A2888AF-1767-10B5-5F90-0A75EAE017E3}"/>
              </a:ext>
            </a:extLst>
          </p:cNvPr>
          <p:cNvSpPr txBox="1">
            <a:spLocks/>
          </p:cNvSpPr>
          <p:nvPr/>
        </p:nvSpPr>
        <p:spPr>
          <a:xfrm>
            <a:off x="7562982" y="1483701"/>
            <a:ext cx="3702895" cy="4077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IBM Plex Sans"/>
              </a:rPr>
              <a:t>Higher job satisfaction groups tend to have slightly fewer years of professional coding experience, with wider experience ranges at lower satisfaction levels.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984BAF-444C-570D-657D-A7E4C6B51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96" y="1343758"/>
            <a:ext cx="6849451" cy="47859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6650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485B5-5A9D-605A-9094-72D48876F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E55E6B1-BF7D-75E6-1649-99737E95E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3871"/>
          </a:xfrm>
        </p:spPr>
        <p:txBody>
          <a:bodyPr anchor="ctr">
            <a:normAutofit fontScale="90000"/>
          </a:bodyPr>
          <a:lstStyle/>
          <a:p>
            <a:br>
              <a:rPr lang="en-US" sz="3200" dirty="0">
                <a:latin typeface="IBM Plex Sans SemiBold"/>
              </a:rPr>
            </a:br>
            <a:r>
              <a:rPr lang="en-US" sz="2800" dirty="0">
                <a:latin typeface="IBM Plex Sans SemiBold"/>
              </a:rPr>
              <a:t>APPENDIX C – PREFERRED WEB FRAMEWORKS  JOB SATISFACTION</a:t>
            </a:r>
            <a:endParaRPr lang="en-US" sz="2800"/>
          </a:p>
          <a:p>
            <a:endParaRPr lang="en-US" sz="2800" dirty="0">
              <a:latin typeface="IBM Plex Sans SemiBold"/>
            </a:endParaRPr>
          </a:p>
          <a:p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26C6AD3-CC6A-F4BC-4EFF-BB283067E4FE}"/>
              </a:ext>
            </a:extLst>
          </p:cNvPr>
          <p:cNvSpPr txBox="1">
            <a:spLocks/>
          </p:cNvSpPr>
          <p:nvPr/>
        </p:nvSpPr>
        <p:spPr>
          <a:xfrm>
            <a:off x="7719290" y="1483701"/>
            <a:ext cx="3546587" cy="4077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IBM Plex Sans"/>
              </a:rPr>
              <a:t>The bubble plot shows that although some web frameworks are more popular than others, average job satisfaction remains relatively similar across framework preferences.</a:t>
            </a:r>
            <a:endParaRPr lang="en-US" dirty="0"/>
          </a:p>
        </p:txBody>
      </p:sp>
      <p:pic>
        <p:nvPicPr>
          <p:cNvPr id="5" name="Content Placeholder 4" descr="A graph with blue dots&#10;&#10;AI-generated content may be incorrect.">
            <a:extLst>
              <a:ext uri="{FF2B5EF4-FFF2-40B4-BE49-F238E27FC236}">
                <a16:creationId xmlns:a16="http://schemas.microsoft.com/office/drawing/2014/main" id="{B2AC2947-174A-437F-5329-9F8737F3CE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30739" y="1483356"/>
            <a:ext cx="6822830" cy="45516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9738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3394A-3044-7C96-9F83-4001A249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4E48871-C996-533C-672E-8C90834D5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3871"/>
          </a:xfrm>
        </p:spPr>
        <p:txBody>
          <a:bodyPr anchor="ctr">
            <a:normAutofit fontScale="90000"/>
          </a:bodyPr>
          <a:lstStyle/>
          <a:p>
            <a:br>
              <a:rPr lang="en-US" sz="3200" dirty="0">
                <a:latin typeface="IBM Plex Sans SemiBold"/>
              </a:rPr>
            </a:br>
            <a:r>
              <a:rPr lang="en-US" sz="3200" dirty="0">
                <a:latin typeface="IBM Plex Sans SemiBold"/>
              </a:rPr>
              <a:t>APPENDIX D – JOB SATISFACTION ACROSS AGE GROUPS</a:t>
            </a:r>
            <a:endParaRPr lang="en-US" sz="3200"/>
          </a:p>
          <a:p>
            <a:endParaRPr lang="en-US" sz="3200" dirty="0">
              <a:latin typeface="IBM Plex Sans SemiBold"/>
            </a:endParaRPr>
          </a:p>
          <a:p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F312C32-D461-BE58-9CC3-94C77DD82A9C}"/>
              </a:ext>
            </a:extLst>
          </p:cNvPr>
          <p:cNvSpPr txBox="1">
            <a:spLocks/>
          </p:cNvSpPr>
          <p:nvPr/>
        </p:nvSpPr>
        <p:spPr>
          <a:xfrm>
            <a:off x="7719290" y="1483701"/>
            <a:ext cx="3546587" cy="4077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IBM Plex Sans"/>
              </a:rPr>
              <a:t>Job satisfaction is highest in volume among mid-career respondents, with comparable satisfaction distributions across age groups.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6412B2-67EC-5754-EB70-1C46DD6AB5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64662" y="1485651"/>
            <a:ext cx="7047522" cy="40684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1106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689" y="181345"/>
            <a:ext cx="5929053" cy="699471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latin typeface="IBM Plex Sans SemiBold"/>
              </a:rPr>
              <a:t> </a:t>
            </a:r>
            <a:r>
              <a:rPr lang="en-US" sz="3200" dirty="0">
                <a:latin typeface="IBM Plex Sans SemiBold"/>
              </a:rPr>
              <a:t>APPENDIX E – JOB POSTINGS</a:t>
            </a:r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07ADB21-9829-2AE6-70D7-E24A82680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812" y="1453052"/>
            <a:ext cx="9815145" cy="48408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DE5A84D9-AC55-A0AB-EA64-F5B5F92EA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071" y="1417150"/>
            <a:ext cx="10037396" cy="497131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39147E-19FD-6D7D-F023-1A81B7034DC8}"/>
              </a:ext>
            </a:extLst>
          </p:cNvPr>
          <p:cNvSpPr txBox="1">
            <a:spLocks/>
          </p:cNvSpPr>
          <p:nvPr/>
        </p:nvSpPr>
        <p:spPr>
          <a:xfrm>
            <a:off x="1345071" y="1764"/>
            <a:ext cx="7286975" cy="858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 dirty="0">
                <a:latin typeface="IBM Plex Sans SemiBold"/>
              </a:rPr>
              <a:t> </a:t>
            </a:r>
            <a:r>
              <a:rPr lang="en-US" sz="2800" dirty="0">
                <a:latin typeface="IBM Plex Sans SemiBold"/>
              </a:rPr>
              <a:t>APPENDIX F – POPULAR LANGUAGES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5</TotalTime>
  <Words>351</Words>
  <Application>Microsoft Office PowerPoint</Application>
  <PresentationFormat>Widescreen</PresentationFormat>
  <Paragraphs>107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SLIDE_TEMPLATE_skill_network</vt:lpstr>
      <vt:lpstr>TECHNOLOGY TRENDS &amp; DEVELOPER DEMOGRAPHICS ANALYSIS</vt:lpstr>
      <vt:lpstr>PowerPoint Presentation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CURRENT TECHNOLOGY USAGE</vt:lpstr>
      <vt:lpstr>FUTURE TECHNOLOGY TRENDS</vt:lpstr>
      <vt:lpstr>DEMOGRAPHICS</vt:lpstr>
      <vt:lpstr>DISCUSSION</vt:lpstr>
      <vt:lpstr>OVERALL FINDINGS &amp; IMPLICATIONS</vt:lpstr>
      <vt:lpstr>CONCLUSION</vt:lpstr>
      <vt:lpstr>APPENDIX A – COMPENSATION VS JOB SATISFACTION </vt:lpstr>
      <vt:lpstr> APPENDIX B – EXPERIENCE VS JOB SATISFACTION  </vt:lpstr>
      <vt:lpstr> APPENDIX C – PREFERRED WEB FRAMEWORKS  JOB SATISFACTION  </vt:lpstr>
      <vt:lpstr> APPENDIX D – JOB SATISFACTION ACROSS AGE GROUPS  </vt:lpstr>
      <vt:lpstr> APPENDIX E – JOB POSTINGS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Tori Sleeper</cp:lastModifiedBy>
  <cp:revision>373</cp:revision>
  <dcterms:created xsi:type="dcterms:W3CDTF">2024-10-30T05:40:03Z</dcterms:created>
  <dcterms:modified xsi:type="dcterms:W3CDTF">2026-01-14T19:36:56Z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